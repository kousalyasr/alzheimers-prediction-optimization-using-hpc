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0C2A-235C-2516-8352-AE542DB02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4E09A-0662-C956-553C-198CEBA9C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33A52-89E8-2D32-2D27-C2C98D266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A3A71-3D1C-318F-738F-48A04B2A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836DB-28D4-24DE-1D32-28A0F540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47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A01C-8264-04F9-EE17-0C57D81D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F731A-1CE5-B7D2-FF7C-FC6D71DB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AC935-8A8D-496B-2790-8442E691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0010E-9FB7-1B86-7DF8-B6FFCD22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F774D-52F5-7BAE-20AB-820D121A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3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B35E-05B0-27C1-C094-40AB79A7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4D951-AAA2-18B6-FDC9-8B1281BA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5475-BECD-C521-BC2D-9EAF9A2E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367DD-112E-E106-7787-DE9E86755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1B951-3883-0AE2-1C90-F40120A7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83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3E3A-B685-BF2F-FB90-B8944B45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E3A99-A467-3667-E80F-32B165BAE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8CD39-69A5-9EBA-01EA-0B8A81024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9DDD0-E4BE-F2DE-8AA2-616B1C06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25087-06E8-7683-A510-6140CC7E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74DD4-B10C-8DB7-7F21-6425BCDC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8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B546-44ED-F5DF-1410-095FA873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FF220-E3AA-931B-3792-A40DA9454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122B2-E81C-C927-BDD6-46BEDF633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EEB46-8072-DF33-E99A-4F7398774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4C620-C7B2-9728-37EE-F90EB0157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CE955A-4496-131D-EE0B-082F2F58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EAB10-0AEE-60F7-53A5-CAE02B96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16FE6-91E2-4B2B-B55D-06703594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68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4D60-C9F6-6056-6747-7FD4E560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3E239-1971-FA10-C4A0-26FF2AD0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29C37-9B27-ABBF-BA44-1CCD1E3E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7DDDB-A4CF-7466-66DC-0637C541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53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5EA3C-A9AF-BA70-682D-10B73AE1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BAAEC-B001-8BA5-240F-1DFAEA15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D37AA-BB28-0E65-B4C6-81621CE5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35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9698-6C7C-D6B7-16D3-411B6246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60D23-D639-3790-CB2E-C4C9976D4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2074D-19ED-5C5E-79C6-7F83F1511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B5550-DC43-89B5-BFDE-2FDE7BE7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99CE4-2485-9FCA-8D04-879C07524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A9C7B-7518-C358-6D64-E0AB0579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46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8964-C244-3C82-9179-0D53CA8E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F6D3B-CC76-57BC-64BD-FA3DDD24B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2BAC1-B3E8-DF71-A623-FED59992E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20D9E-D52E-0053-4BFD-CAACFE0A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EC708-666C-84E4-76F2-C268A7E6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AA685-96A9-FE4B-C7A7-2F6DA44C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18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F76A-7F3D-737C-C2B9-1BFD877C0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2EDF9-2497-194E-6DA6-161428C13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F375-415F-1BEC-E6CE-4CA0E288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DA620-7B84-8CCC-4414-054ECB73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3A35E-72FF-5119-7F41-5C63A42B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74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30BC8-8FDA-63D0-79FB-C8D9CF321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B7E6B-E0E2-95A5-61D5-4AD469921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54772-8642-ED61-0539-5CB789688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B8C8F-FAD0-3D58-A52E-A75E8DCD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81515-590A-28AD-47C2-F419329B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76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58F57-7627-7606-4FC4-4D2BF0BE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B0502-BBFC-3896-63C7-5A8F4E374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F6774-E8CA-0499-732B-6E0DFCFD5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5DD57-293B-419C-B781-A067C99994D7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7F652-9D3B-EE35-CCFE-DB985AC92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68D9A-563A-EB6B-DA1F-E8E39D4D9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EBAA6-D568-479C-90C7-7F647AC6C8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12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NSRE.2023.3247590" TargetMode="External"/><Relationship Id="rId2" Type="http://schemas.openxmlformats.org/officeDocument/2006/relationships/hyperlink" Target="https://doi.org/10.1109/TCSS.2022.322399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ICAML54311.2021.00092" TargetMode="External"/><Relationship Id="rId4" Type="http://schemas.openxmlformats.org/officeDocument/2006/relationships/hyperlink" Target="https://doi.org/10.1109/ACCESS.2023.329471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CBB.2022.3233869" TargetMode="External"/><Relationship Id="rId2" Type="http://schemas.openxmlformats.org/officeDocument/2006/relationships/hyperlink" Target="https://doi.org/10.1109/ACCESS.2024.348492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EMBC53108.2024.10782267" TargetMode="External"/><Relationship Id="rId4" Type="http://schemas.openxmlformats.org/officeDocument/2006/relationships/hyperlink" Target="https://doi.org/10.26599/BDMA.2022.9020049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ACCESS.2024.3481238" TargetMode="External"/><Relationship Id="rId2" Type="http://schemas.openxmlformats.org/officeDocument/2006/relationships/hyperlink" Target="https://doi.org/10.1109/ACCESS.2023.3342917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694C5-C3B2-F4B2-031C-DCDD6ECFB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40" y="1005840"/>
            <a:ext cx="7142480" cy="177800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ALZHEIMER’S PREDICTION OPTIMIZATION USING HPC </a:t>
            </a:r>
            <a:endParaRPr lang="en-IN" sz="5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01B5B-E195-E48C-E9CB-812D0FD6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1680" y="4224497"/>
            <a:ext cx="4886960" cy="2311082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rgbClr val="7030A0"/>
                </a:solidFill>
              </a:rPr>
              <a:t>SUBMITTED BY:</a:t>
            </a:r>
          </a:p>
          <a:p>
            <a:pPr algn="l">
              <a:lnSpc>
                <a:spcPct val="100000"/>
              </a:lnSpc>
            </a:pPr>
            <a:r>
              <a:rPr lang="en-US" sz="2200" dirty="0">
                <a:solidFill>
                  <a:srgbClr val="7030A0"/>
                </a:solidFill>
              </a:rPr>
              <a:t>         S R KOUSALYA – 22BCE5225</a:t>
            </a:r>
            <a:br>
              <a:rPr lang="en-US" sz="2200" dirty="0">
                <a:solidFill>
                  <a:srgbClr val="7030A0"/>
                </a:solidFill>
              </a:rPr>
            </a:br>
            <a:r>
              <a:rPr lang="en-US" sz="2200" dirty="0">
                <a:solidFill>
                  <a:srgbClr val="7030A0"/>
                </a:solidFill>
              </a:rPr>
              <a:t>         HARINI L – 22BCE5233</a:t>
            </a:r>
          </a:p>
          <a:p>
            <a:pPr algn="l">
              <a:lnSpc>
                <a:spcPct val="100000"/>
              </a:lnSpc>
            </a:pPr>
            <a:r>
              <a:rPr lang="en-US" sz="2200" dirty="0">
                <a:solidFill>
                  <a:srgbClr val="7030A0"/>
                </a:solidFill>
              </a:rPr>
              <a:t>         YOGESHWARAN A – 22BCE5213</a:t>
            </a:r>
          </a:p>
        </p:txBody>
      </p:sp>
    </p:spTree>
    <p:extLst>
      <p:ext uri="{BB962C8B-B14F-4D97-AF65-F5344CB8AC3E}">
        <p14:creationId xmlns:p14="http://schemas.microsoft.com/office/powerpoint/2010/main" val="111247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7F02-9990-9E6D-A2AB-BC0D14E2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08220" cy="827067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512E056-792F-3819-7E84-042498D97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273" y="1245089"/>
            <a:ext cx="10868628" cy="503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is difficult to detect early due to subtle brain changes and complex neuroimaging data.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methods struggle with computational efficiency, accuracy, and scalability on large MRI datasets.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require long training times and manual hyperparameter tuning, limiting real-time application.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Rising volumes of medical imaging demand faster, more automated, and more accurate prediction systems.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high-performance solution that enables scalable, real-time classification of Alzheimer's stages.</a:t>
            </a:r>
          </a:p>
        </p:txBody>
      </p:sp>
    </p:spTree>
    <p:extLst>
      <p:ext uri="{BB962C8B-B14F-4D97-AF65-F5344CB8AC3E}">
        <p14:creationId xmlns:p14="http://schemas.microsoft.com/office/powerpoint/2010/main" val="405687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5FEF-E6E7-2D45-CB82-6B897668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93A5EB-19CB-0B4C-4682-BD1CD407C4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2136"/>
            <a:ext cx="10515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 framework for early and accurate Alzheimer’s disease classification using MRI scans.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 High-Performance Computing (HPC) to improve training speed and model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parallel processing and distributed training using MPI to handle large datasets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hyperparameter tuning to reduce manual intervention and enhance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MRI images into four categories: Non-Demented, Very Mild Demented, Mild Demented, and Moderate Demented.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real-time, scalable prediction system suitable for clinical and research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3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6BE3-B94C-AE0B-128F-054C2F943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493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20928-AD2B-26E6-0A14-9714BC0D1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92"/>
            <a:ext cx="10667035" cy="5173883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(1) Adaptive 3DCNN-Based Interpretable Ensemble Model for Early Diagnosis of Alzheimer’s Disease 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(2) Risk Prediction of Alzheimer’s Disease Conversion in Mild Cognitive Impaired Population Based on Brain Age Estimation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(3) 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Leveraging Brain MRI for Biomedical Alzheimer’s Disease Diagnosis Using Enhanced Manta Ray Foraging Optimization Based Deep Learning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(4) Deep Learning-Based Diagnosis of Alzheimer's Disease Using Structural Magnetic Resonance Imaging: A Survey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(5) Graph-based deep learning models in the prediction of early-stage Alzheimer’s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(6) Advancements in High-Performance Computing in Early Diagnosis of Alzheimer’s Disease: A Systematic Review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(7) Transfer Learning for Classification of Alzheimer's Disease Based on Genome wide Data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(8)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Diagnosis and Detection of Alzheimer's Disease Using Learning Algorithm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(9) Classification of Alzheimer’s Disease using Ensemble Convolutional Neural Network with LFA Algorithm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(10) </a:t>
            </a:r>
            <a:r>
              <a:rPr lang="en-IN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Improving Alzheimer’s Detection with Deep Learning and Image Processing Techniques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71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6569-EED0-60B7-43ED-30EEE13C1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IDENTIFIED: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CD10C2-0D62-1383-6225-5C5B2B0633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06930"/>
            <a:ext cx="10515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High-Performance Computing (HPC) in Medical Imaging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Alzheimer’s prediction systems lack integration with HPC techniques such as parallel processing and distributed training. This limits their ability to efficiently process large-scale neuroimaging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Preprocessing and Training Pipelines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MRI classification workflows typically follow a sequential pipeline, resulting in increased computation time and resource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and Time-Consuming Hyperparameter Tuning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deep learning models depend on manual methods for hyperparameter optimization, which is not scalable for high-dimensional medical imaging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Scalable and Real-Time Solutions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often not designed for scalability across multiple GPUs or clusters, hindering their suitability for real-time deployment in clinical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Underutilization of GPU and MPI-Based Distributed Architectures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studies leverage GPU acceleration or MPI (Message Passing Interface) for distributed training, despite the potential for significantly faster training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399947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3486-BD44-D814-91DD-145B89C3C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379"/>
            <a:ext cx="10515600" cy="965964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F21DD91B-A49A-26CC-4FE0-8E732C2BC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0717" y="1169045"/>
            <a:ext cx="1074805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Parallel Image Preprocessing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Utilized Python’s multiprocessing library to process MRI images concurrently across CPU cores.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Drastically reduces preprocessing time through shared memory parallelism.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Parallel Hyperparameter Tuning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script for parallel parameter sweeps using multiprocessing.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and accelerates model optimization by evaluating multiple learning rate and batch size combinations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MPI-Based Distributed 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MPI (mpi4py) for distributing computational tasks (e.g., matrix operations) across multiple processes or machines.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distributed memory parallelism, scaling computations across multi-node or cluster-based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GPU-Accelerated CNN Training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trained a CNN model with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GPU acceleration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torch.device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cuda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Leverages CUDA-enabled GPUs for faster matrix computations and reduced training time on large neuroimaging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5) Optimized HPC Pipeline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parallel preprocessing, hyperparameter tuning, distributed processing, and GPU training into a unified, high-performance computing pipeline.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time and improves efficiency for large-scale medical imaging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2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C832-6313-6FBE-E774-4F22266C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A254B8-F5B6-14C4-A3B7-F3D62F3B2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6337" y="1574157"/>
            <a:ext cx="6492411" cy="49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1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25F5C-BE76-7D07-047A-FD6D3212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B1E65-1A17-1349-ED88-7715783B0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9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PERFORMANCE EVALUATION: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395F6-63CA-638E-2F84-931A8C448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818" y="2009278"/>
            <a:ext cx="9203982" cy="451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01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4B1C-27D3-FB8E-A5D0-1411CAEB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83" y="232939"/>
            <a:ext cx="10515600" cy="1325563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365FF-1802-CAEB-811C-432649699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7" y="1408936"/>
            <a:ext cx="6921166" cy="5111953"/>
          </a:xfrm>
        </p:spPr>
      </p:pic>
    </p:spTree>
    <p:extLst>
      <p:ext uri="{BB962C8B-B14F-4D97-AF65-F5344CB8AC3E}">
        <p14:creationId xmlns:p14="http://schemas.microsoft.com/office/powerpoint/2010/main" val="258399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3140-49F1-53F7-57E5-02D49B86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EE4F1-6EC7-AB75-F7CF-04BAA36D9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DEMENTED      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B6DB3-AD41-1692-EFC5-481DEC87E6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DEMENTED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6F1774-D62D-58CC-AF59-F5E0F49E1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283" y="2751980"/>
            <a:ext cx="2410173" cy="2850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5F225C-5475-892D-75A8-FF577D3FB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858" y="2751980"/>
            <a:ext cx="2410173" cy="2848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306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F98D-D1CC-A941-5CB7-423535D6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EF9BF-9F4B-7D7D-4CC0-E7C5B9EF30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DEMENTED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AEBE0-5CFC-94F1-FC6E-0DBD07CFAA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MILD DEMENTED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C2FC4-11AC-9466-E823-7CA029019B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179" y="2697202"/>
            <a:ext cx="2430684" cy="28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01C5BE-D8A3-6EFB-B868-813150726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042" y="2697202"/>
            <a:ext cx="2421393" cy="28616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655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190B-7C44-B3FB-7BC7-C4D846B9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953"/>
            <a:ext cx="10515600" cy="1325563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FORMAT: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268982-197F-20A0-5A54-7C43F9A4D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725744"/>
              </p:ext>
            </p:extLst>
          </p:nvPr>
        </p:nvGraphicFramePr>
        <p:xfrm>
          <a:off x="2858947" y="1522516"/>
          <a:ext cx="7292051" cy="49703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4246">
                  <a:extLst>
                    <a:ext uri="{9D8B030D-6E8A-4147-A177-3AD203B41FA5}">
                      <a16:colId xmlns:a16="http://schemas.microsoft.com/office/drawing/2014/main" val="1379011921"/>
                    </a:ext>
                  </a:extLst>
                </a:gridCol>
                <a:gridCol w="1454246">
                  <a:extLst>
                    <a:ext uri="{9D8B030D-6E8A-4147-A177-3AD203B41FA5}">
                      <a16:colId xmlns:a16="http://schemas.microsoft.com/office/drawing/2014/main" val="3755658119"/>
                    </a:ext>
                  </a:extLst>
                </a:gridCol>
                <a:gridCol w="1454246">
                  <a:extLst>
                    <a:ext uri="{9D8B030D-6E8A-4147-A177-3AD203B41FA5}">
                      <a16:colId xmlns:a16="http://schemas.microsoft.com/office/drawing/2014/main" val="2232714913"/>
                    </a:ext>
                  </a:extLst>
                </a:gridCol>
                <a:gridCol w="1454246">
                  <a:extLst>
                    <a:ext uri="{9D8B030D-6E8A-4147-A177-3AD203B41FA5}">
                      <a16:colId xmlns:a16="http://schemas.microsoft.com/office/drawing/2014/main" val="43560630"/>
                    </a:ext>
                  </a:extLst>
                </a:gridCol>
                <a:gridCol w="1475067">
                  <a:extLst>
                    <a:ext uri="{9D8B030D-6E8A-4147-A177-3AD203B41FA5}">
                      <a16:colId xmlns:a16="http://schemas.microsoft.com/office/drawing/2014/main" val="1653092680"/>
                    </a:ext>
                  </a:extLst>
                </a:gridCol>
              </a:tblGrid>
              <a:tr h="843020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Loss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Accuracy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Precision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Recall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F1 Score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7256332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1.0934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0.5602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0.5403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0.5602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0.5026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7383503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0.9040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0.5930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0.7307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0.5930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0.5662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7528575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0.7377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0.7297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0.7422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0.7297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0.7123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0041015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0.5053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0.7727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0.8050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0.7727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0.7598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7403848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0.3392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0.8602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0.8671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0.8602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0.8607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100698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0.2142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0.8914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0.8954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0.8914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0.8903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0285328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0.1514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0.8969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0.9128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0.8969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0.8983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0023851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0.0956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0.9391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0.9491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0.9391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0.9393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5757058"/>
                  </a:ext>
                </a:extLst>
              </a:tr>
              <a:tr h="333758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0.0539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0.9602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0.9615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0.9602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0.9603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0797747"/>
                  </a:ext>
                </a:extLst>
              </a:tr>
              <a:tr h="421509"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0.0276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0.9695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0.9696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>
                          <a:effectLst/>
                        </a:rPr>
                        <a:t>0.9695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89535" algn="just">
                        <a:spcAft>
                          <a:spcPts val="165"/>
                        </a:spcAft>
                        <a:buNone/>
                      </a:pPr>
                      <a:r>
                        <a:rPr lang="en-IN" sz="1800" dirty="0">
                          <a:effectLst/>
                        </a:rPr>
                        <a:t>0.9695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2102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14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8999-BE03-8BE9-0DFD-87BD2338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151B-EC59-1279-AE52-9B30682A8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3271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successfully integrating HPC strategies into the deep learning pipeline significantly improved the efficiency and performance of Alzheimer’s disease classification using MRI scans. The system achieved 96.95% accuracy and an F1 score of 0.9695 by epoch 10, demonstrating strong generalization across all Alzheimer’s stages. This scalable and robust approach is well-suited for clinical deployment in large-scale medical imaging.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238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8E2B-E40A-A4B7-D7EA-F73C521D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87B26-7480-6F19-CEF4-596C2A89D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284"/>
            <a:ext cx="10771208" cy="4872941"/>
          </a:xfrm>
        </p:spPr>
        <p:txBody>
          <a:bodyPr>
            <a:normAutofit fontScale="92500" lnSpcReduction="20000"/>
          </a:bodyPr>
          <a:lstStyle/>
          <a:p>
            <a:pPr marR="89535">
              <a:lnSpc>
                <a:spcPct val="100000"/>
              </a:lnSpc>
              <a:spcAft>
                <a:spcPts val="165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  <a:spcAft>
                <a:spcPts val="250"/>
              </a:spcAft>
              <a:tabLst>
                <a:tab pos="228600" algn="l"/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D. Pan </a:t>
            </a:r>
            <a:r>
              <a:rPr lang="en-US" sz="19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et al</a:t>
            </a: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., "Adaptive 3DCNN-Based Interpretable Ensemble Model for Early Diagnosis of Alzheimer’s   Disease," in </a:t>
            </a:r>
            <a:r>
              <a:rPr lang="en-US" sz="19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IEEE Transactions on Computational Social Systems</a:t>
            </a: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vol. 11, no. 1, pp. 247-266, Feb. 2024</a:t>
            </a:r>
            <a:endParaRPr lang="en-IN" sz="19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  <a:tabLst>
                <a:tab pos="228600" algn="l"/>
                <a:tab pos="457200" algn="l"/>
              </a:tabLst>
            </a:pPr>
            <a:r>
              <a:rPr lang="en-US" sz="19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DOI: </a:t>
            </a:r>
            <a:r>
              <a:rPr lang="en-US" sz="19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  <a:hlinkClick r:id="rId2"/>
              </a:rPr>
              <a:t>10.1109/TCSS.2022.3223999</a:t>
            </a: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Aft>
                <a:spcPts val="250"/>
              </a:spcAft>
              <a:tabLst>
                <a:tab pos="228600" algn="l"/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W. Liu, Q. Dong, S. Sun, J. Shen, K. Qian and B. Hu, "Risk Prediction of Alzheimer’s Disease Conversion in Mild Cognitive Impaired Population Based on Brain Age Estimation," in </a:t>
            </a:r>
            <a:r>
              <a:rPr lang="en-US" sz="19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IEEE Transactions on Neural Systems and Rehabilitation Engineering</a:t>
            </a: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vol. 31, pp. 2468-2476, 2023</a:t>
            </a:r>
            <a:endParaRPr lang="en-IN" sz="19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19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DOI: </a:t>
            </a:r>
            <a:r>
              <a:rPr lang="en-US" sz="19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hlinkClick r:id="rId3"/>
              </a:rPr>
              <a:t>10.1109/TNSRE.2023.3247590</a:t>
            </a:r>
            <a:endParaRPr lang="en-US" sz="19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353060" algn="l"/>
                <a:tab pos="3213100" algn="ctr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R. S. 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Jamalullah</a:t>
            </a:r>
            <a:r>
              <a:rPr lang="en-US" sz="19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  <a:r>
              <a:rPr lang="en-US" sz="19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et al</a:t>
            </a:r>
            <a:r>
              <a:rPr lang="en-US" sz="19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., "Leveraging Brain MRI for Biomedical Alzheimer’s Disease Diagnosis Using  Enhanced Manta Ray Foraging Optimization Based      Deep Learning," in </a:t>
            </a:r>
            <a:r>
              <a:rPr lang="en-US" sz="19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IEEE Access</a:t>
            </a:r>
            <a:r>
              <a:rPr lang="en-US" sz="19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vol. 11, pp. 81921-81929, 2023          </a:t>
            </a:r>
            <a:endParaRPr lang="en-IN" sz="19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r>
              <a:rPr lang="en-US" sz="19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DOI: </a:t>
            </a:r>
            <a:r>
              <a:rPr lang="en-US" sz="19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4"/>
              </a:rPr>
              <a:t>10.1109/ACCESS.2023.3294711</a:t>
            </a:r>
            <a:r>
              <a:rPr lang="en-US" sz="1900" u="sng" dirty="0">
                <a:solidFill>
                  <a:srgbClr val="0563C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Aft>
                <a:spcPts val="250"/>
              </a:spcAft>
              <a:tabLst>
                <a:tab pos="228600" algn="l"/>
                <a:tab pos="457200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T. Wang and L. Cao, "Deep Learning Based Diagnosis of Alzheimer's Disease Using Structural Magnetic Resonance Imaging: A Survey," </a:t>
            </a:r>
            <a:r>
              <a:rPr lang="en-US" sz="19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2021 3rd International Conference on Applied Machine Learning (ICAML)</a:t>
            </a:r>
            <a:r>
              <a:rPr lang="en-US" sz="19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Changsha, China, 2021</a:t>
            </a:r>
            <a:endParaRPr lang="en-IN" sz="19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>
              <a:lnSpc>
                <a:spcPct val="100000"/>
              </a:lnSpc>
              <a:buNone/>
            </a:pPr>
            <a:r>
              <a:rPr lang="en-US" sz="19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DOI: </a:t>
            </a:r>
            <a:r>
              <a:rPr lang="en-US" sz="19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5"/>
              </a:rPr>
              <a:t>10.1109/ICAML54311.2021.00092</a:t>
            </a:r>
            <a:endParaRPr lang="en-IN" sz="19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555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D0DD1-B398-8713-1806-986ADF6C7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304" y="344066"/>
            <a:ext cx="10609162" cy="5721068"/>
          </a:xfrm>
        </p:spPr>
        <p:txBody>
          <a:bodyPr/>
          <a:lstStyle/>
          <a:p>
            <a:pPr>
              <a:lnSpc>
                <a:spcPct val="100000"/>
              </a:lnSpc>
              <a:tabLst>
                <a:tab pos="353060" algn="l"/>
                <a:tab pos="3213100" algn="ct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B. Thapaliya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et al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., "Graph-based deep learning models in the prediction of early-stage Alzheimer’s,"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2024 46th Annual International Conference of the IEEE Engineering in Medicine and Biology Society (EMBC)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Orlando, FL, USA, 2024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 DOI: </a:t>
            </a:r>
            <a:r>
              <a:rPr lang="en-US" sz="1800" u="sng" dirty="0">
                <a:solidFill>
                  <a:srgbClr val="0563C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10.1109/EMBC53108.2024.10782267</a:t>
            </a:r>
            <a:endParaRPr lang="en-IN" sz="1800" u="sng" dirty="0">
              <a:solidFill>
                <a:srgbClr val="0563C1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  <a:tabLst>
                <a:tab pos="353060" algn="l"/>
                <a:tab pos="3213100" algn="ct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Kirimtat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O.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Krejcar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P.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Maresova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A. Selamat and K. Kuca, "Advancements in High-Performance Computing in Early Diagnosis of Alzheimer’s Disease: A Systematic Review," in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IEEE Access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vol. 12, pp. 156492-156504, 2024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 DOI: 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2"/>
              </a:rPr>
              <a:t>10.1109/ACCESS.2024.3484928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>
              <a:lnSpc>
                <a:spcPct val="100000"/>
              </a:lnSpc>
              <a:tabLst>
                <a:tab pos="353060" algn="l"/>
                <a:tab pos="3213100" algn="ct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A. S.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Alatrany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W. Khan, A. J. Hussain, J. Mustafina, D. Al-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Jumeily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and for the Alzheimer's Disease Neuroimaging Initiative, "Transfer Learning for Classification of Alzheimer's Disease Based on Genome wide Data," in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IEEE/ACM Transactions on Computational Biology and Bioinformatics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vol. 20, no. 5, pp. 2700-2711, 1 Sept.-Oct. 2023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DOI: 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3"/>
              </a:rPr>
              <a:t>10.1109/TCBB.2022.3233869</a:t>
            </a:r>
            <a:endParaRPr lang="en-US" sz="1800" u="sng" dirty="0">
              <a:solidFill>
                <a:srgbClr val="0563C1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  <a:tabLst>
                <a:tab pos="353060" algn="l"/>
                <a:tab pos="3213100" algn="ct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G. P. Shukla, S. Kumar, S. K. Pandey, R. Agarwal, N. Varshney and A. Kumar, "Diagnosis and Detection of Alzheimer's Disease Using Learning Algorithm," in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Big Data Mining and Analytics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vol. 6, no. 4, pp. 504-512, December 2023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algn="l">
              <a:lnSpc>
                <a:spcPct val="100000"/>
              </a:lnSpc>
              <a:buNone/>
              <a:tabLst>
                <a:tab pos="353060" algn="l"/>
                <a:tab pos="3213100" algn="ctr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DOI: 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4"/>
              </a:rPr>
              <a:t>10.26599/BDMA.2022.9020049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buNone/>
            </a:pPr>
            <a:endParaRPr lang="en-IN" sz="1800" u="sng" dirty="0">
              <a:solidFill>
                <a:srgbClr val="0563C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hlinkClick r:id="rId5"/>
            </a:endParaRPr>
          </a:p>
          <a:p>
            <a:pPr>
              <a:buNone/>
            </a:pPr>
            <a:endParaRPr lang="en-IN" sz="1800" u="sng" dirty="0">
              <a:solidFill>
                <a:srgbClr val="0563C1"/>
              </a:solidFill>
              <a:latin typeface="Times New Roman" panose="02020603050405020304" pitchFamily="18" charset="0"/>
              <a:ea typeface="SimSun" panose="02010600030101010101" pitchFamily="2" charset="-122"/>
              <a:hlinkClick r:id="rId5"/>
            </a:endParaRP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651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93">
              <a:schemeClr val="accent5">
                <a:lumMod val="20000"/>
                <a:lumOff val="80000"/>
              </a:schemeClr>
            </a:gs>
            <a:gs pos="20276">
              <a:srgbClr val="C5DBF0"/>
            </a:gs>
            <a:gs pos="37000">
              <a:schemeClr val="accent5">
                <a:lumMod val="60000"/>
                <a:lumOff val="40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60CF-F888-D273-AA3B-063EF5963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454" y="795478"/>
            <a:ext cx="10515600" cy="4351338"/>
          </a:xfrm>
        </p:spPr>
        <p:txBody>
          <a:bodyPr/>
          <a:lstStyle/>
          <a:p>
            <a:pPr>
              <a:tabLst>
                <a:tab pos="353060" algn="l"/>
                <a:tab pos="3213100" algn="ct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C. -M. Kim and W. Lee, "Classification of Alzheimer’s Disease Using Ensemble Convolutional Neural Network with LFA Algorithm," in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IEEE Access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vol. 11, pp. 143004-143015, 2023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 DOI: 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2"/>
              </a:rPr>
              <a:t>10.1109/ACCESS.2023.3342917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endParaRPr lang="en-US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tabLst>
                <a:tab pos="353060" algn="l"/>
                <a:tab pos="3213100" algn="ct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G. N.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Alwakid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S. Tahir, M. Humayun, W. Gouda, "Improving Alzheimer’s Detection with Deep Learning and Image Processing Techniques," in 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IEEE Access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vol. 12, pp. 153445-153456, 2024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 DOI: 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hlinkClick r:id="rId3"/>
              </a:rPr>
              <a:t>10.1109/ACCESS.2024.3481238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454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BB57-9529-6214-4B6D-7FE78AB7C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 algn="ctr">
              <a:buNone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10680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1438</Words>
  <Application>Microsoft Office PowerPoint</Application>
  <PresentationFormat>Widescreen</PresentationFormat>
  <Paragraphs>145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ALZHEIMER’S PREDICTION OPTIMIZATION USING HPC </vt:lpstr>
      <vt:lpstr>PROBLEM STATEMENT:</vt:lpstr>
      <vt:lpstr>OBJECTIVES:</vt:lpstr>
      <vt:lpstr>LITERATURE SURVEY:</vt:lpstr>
      <vt:lpstr>RESEARCH GAP IDENTIFIED:</vt:lpstr>
      <vt:lpstr>PROPOSED METHOD:</vt:lpstr>
      <vt:lpstr>BLOCK DIAGRAM:</vt:lpstr>
      <vt:lpstr>EXPERIMENTAL RESULTS:</vt:lpstr>
      <vt:lpstr>CONFUSION MATRIX:</vt:lpstr>
      <vt:lpstr>FIGURES:</vt:lpstr>
      <vt:lpstr>FIGURES:</vt:lpstr>
      <vt:lpstr>TABLE FORMAT:</vt:lpstr>
      <vt:lpstr>CONCLUSION:</vt:lpstr>
      <vt:lpstr>REFERENCES: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kousalya sr</dc:creator>
  <cp:lastModifiedBy>kousalya sr</cp:lastModifiedBy>
  <cp:revision>2</cp:revision>
  <dcterms:created xsi:type="dcterms:W3CDTF">2025-04-23T09:19:57Z</dcterms:created>
  <dcterms:modified xsi:type="dcterms:W3CDTF">2025-04-25T06:09:46Z</dcterms:modified>
</cp:coreProperties>
</file>